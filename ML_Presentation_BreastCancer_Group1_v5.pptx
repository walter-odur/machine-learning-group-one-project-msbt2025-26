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1" r:id="rId6"/>
    <p:sldId id="260" r:id="rId7"/>
    <p:sldId id="277" r:id="rId8"/>
    <p:sldId id="275" r:id="rId9"/>
    <p:sldId id="262" r:id="rId10"/>
    <p:sldId id="278" r:id="rId11"/>
    <p:sldId id="279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3" r:id="rId20"/>
    <p:sldId id="272" r:id="rId21"/>
    <p:sldId id="280" r:id="rId22"/>
    <p:sldId id="270" r:id="rId23"/>
    <p:sldId id="271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1214" autoAdjust="0"/>
  </p:normalViewPr>
  <p:slideViewPr>
    <p:cSldViewPr snapToGrid="0" snapToObjects="1">
      <p:cViewPr varScale="1">
        <p:scale>
          <a:sx n="84" d="100"/>
          <a:sy n="84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984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Tanscriptomics</a:t>
            </a:r>
            <a:r>
              <a:rPr lang="en-US" dirty="0"/>
              <a:t>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EE319-CB18-B10F-4FAC-6B0D9D512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A9598A-D1E9-539A-6D51-C9971F2337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714DE8-192B-830F-C95F-F37C2FE34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4DD64-C354-3F09-9D8E-D032A31244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8284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EE319-CB18-B10F-4FAC-6B0D9D512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A9598A-D1E9-539A-6D51-C9971F2337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714DE8-192B-830F-C95F-F37C2FE34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4DD64-C354-3F09-9D8E-D032A31244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9749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215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8321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spread of dots along the x-axis reflects how strongly each gene shifts individual predictions, providing patient-level interpretability beyond simple feature ranking.</a:t>
            </a:r>
            <a:endParaRPr lang="en-UG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799BA-BC65-BE1F-6226-D82588E46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EE2111-0322-4AFA-659A-855FB2D13D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402844-73B6-B4D0-28DA-7E0B96442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D4D6D-F43C-255E-0459-8A367DFF8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7662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2D452-433B-9180-9B21-472CC252F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002073-823B-DD61-CFD1-6FF324EA8D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A6A5FF-D6E6-F504-75FF-1B40BEBA8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CCCCCC"/>
                </a:solidFill>
                <a:effectLst/>
                <a:latin typeface="Segoe WPC"/>
              </a:rPr>
              <a:t>Panel A (Test Set AUROC):</a:t>
            </a:r>
            <a:r>
              <a:rPr lang="en-US" b="0" i="0" dirty="0">
                <a:solidFill>
                  <a:srgbClr val="CCCCCC"/>
                </a:solidFill>
                <a:effectLst/>
                <a:latin typeface="Segoe WPC"/>
              </a:rPr>
              <a:t> Compares discriminative performance across all four models.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CCCCCC"/>
                </a:solidFill>
                <a:effectLst/>
                <a:latin typeface="Segoe WPC"/>
              </a:rPr>
              <a:t>Logistic Regression achieves the highest AUROC (0.709)</a:t>
            </a:r>
            <a:r>
              <a:rPr lang="en-US" b="0" i="0" dirty="0">
                <a:solidFill>
                  <a:srgbClr val="CCCCCC"/>
                </a:solidFill>
                <a:effectLst/>
                <a:latin typeface="Segoe WPC"/>
              </a:rPr>
              <a:t>, followed by Random Forest and Stacking (both 0.675), with </a:t>
            </a:r>
            <a:r>
              <a:rPr lang="en-US" b="0" i="0" dirty="0" err="1">
                <a:solidFill>
                  <a:srgbClr val="CCCCCC"/>
                </a:solidFill>
                <a:effectLst/>
                <a:latin typeface="Segoe WPC"/>
              </a:rPr>
              <a:t>XGBoost</a:t>
            </a:r>
            <a:r>
              <a:rPr lang="en-US" b="0" i="0" dirty="0">
                <a:solidFill>
                  <a:srgbClr val="CCCCCC"/>
                </a:solidFill>
                <a:effectLst/>
                <a:latin typeface="Segoe WPC"/>
              </a:rPr>
              <a:t> at 0.595. All models exceed the 0.5 random baseline (dashed line).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CCCCCC"/>
                </a:solidFill>
                <a:effectLst/>
                <a:latin typeface="Segoe WPC"/>
              </a:rPr>
              <a:t>Panel B (Class Distribution):</a:t>
            </a:r>
            <a:r>
              <a:rPr lang="en-US" b="0" i="0" dirty="0">
                <a:solidFill>
                  <a:srgbClr val="CCCCCC"/>
                </a:solidFill>
                <a:effectLst/>
                <a:latin typeface="Segoe WPC"/>
              </a:rPr>
              <a:t> Shows the dataset is </a:t>
            </a:r>
            <a:r>
              <a:rPr lang="en-US" b="1" i="0" dirty="0">
                <a:solidFill>
                  <a:srgbClr val="CCCCCC"/>
                </a:solidFill>
                <a:effectLst/>
                <a:latin typeface="Segoe WPC"/>
              </a:rPr>
              <a:t>imbalanced</a:t>
            </a:r>
            <a:r>
              <a:rPr lang="en-US" b="0" i="0" dirty="0">
                <a:solidFill>
                  <a:srgbClr val="CCCCCC"/>
                </a:solidFill>
                <a:effectLst/>
                <a:latin typeface="Segoe WPC"/>
              </a:rPr>
              <a:t>, 64% residual disease (RD) vs. 36% </a:t>
            </a:r>
            <a:r>
              <a:rPr lang="en-US" b="0" i="0" dirty="0" err="1">
                <a:solidFill>
                  <a:srgbClr val="CCCCCC"/>
                </a:solidFill>
                <a:effectLst/>
                <a:latin typeface="Segoe WPC"/>
              </a:rPr>
              <a:t>pCR</a:t>
            </a:r>
            <a:r>
              <a:rPr lang="en-US" b="0" i="0" dirty="0">
                <a:solidFill>
                  <a:srgbClr val="CCCCCC"/>
                </a:solidFill>
                <a:effectLst/>
                <a:latin typeface="Segoe WPC"/>
              </a:rPr>
              <a:t>; which motivated the use of stratified splitting approach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CCCCCC"/>
                </a:solidFill>
                <a:effectLst/>
                <a:latin typeface="Segoe WPC"/>
              </a:rPr>
              <a:t>Panel C (Top 15 SHAP Genes):</a:t>
            </a:r>
            <a:r>
              <a:rPr lang="en-US" b="0" i="0" dirty="0">
                <a:solidFill>
                  <a:srgbClr val="CCCCCC"/>
                </a:solidFill>
                <a:effectLst/>
                <a:latin typeface="Segoe WPC"/>
              </a:rPr>
              <a:t> Ranks the most influential genes driving </a:t>
            </a:r>
            <a:r>
              <a:rPr lang="en-US" b="0" i="0" dirty="0" err="1">
                <a:solidFill>
                  <a:srgbClr val="CCCCCC"/>
                </a:solidFill>
                <a:effectLst/>
                <a:latin typeface="Segoe WPC"/>
              </a:rPr>
              <a:t>XGBoost</a:t>
            </a:r>
            <a:r>
              <a:rPr lang="en-US" b="0" i="0" dirty="0">
                <a:solidFill>
                  <a:srgbClr val="CCCCCC"/>
                </a:solidFill>
                <a:effectLst/>
                <a:latin typeface="Segoe WPC"/>
              </a:rPr>
              <a:t> predictions by mean absolute SHAP value.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CCCCCC"/>
                </a:solidFill>
                <a:effectLst/>
                <a:latin typeface="Segoe WPC"/>
              </a:rPr>
              <a:t>Panel D (All Metrics Comparison):</a:t>
            </a:r>
            <a:r>
              <a:rPr lang="en-US" b="0" i="0" dirty="0">
                <a:solidFill>
                  <a:srgbClr val="CCCCCC"/>
                </a:solidFill>
                <a:effectLst/>
                <a:latin typeface="Segoe WPC"/>
              </a:rPr>
              <a:t> Compares AUROC, F1, Accuracy, and MCC side-by-side. Logistic Regression leads or ties on all four metrics, while MCC values (~0.2–0.3) reflect the inherent difficulty of the classification task given the modest sample size and class imbalance.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D7291-8B78-0849-970D-094536F814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4757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2D452-433B-9180-9B21-472CC252F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002073-823B-DD61-CFD1-6FF324EA8D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A6A5FF-D6E6-F504-75FF-1B40BEBA8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D7291-8B78-0849-970D-094536F814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3556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quality, not model complexity.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3F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594360"/>
            <a:ext cx="8321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 of Pathological Complete Response</a:t>
            </a:r>
            <a:endParaRPr lang="en-US" sz="2300" dirty="0"/>
          </a:p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Neoadjuvant Chemotherapy in Breast Cancer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84048" y="2926080"/>
            <a:ext cx="832104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306324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3D9E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GROUP 1 - MSBT 2025–26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4048" y="33832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Elastus Ssemwanga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Walter Odur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Tusabe Godwin Wenka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10128" y="33832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Latifah Nakayenga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Patrovas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Gabriel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Okidi</a:t>
            </a:r>
            <a:endParaRPr lang="en-US" sz="15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Odong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36208" y="3191256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Namubiru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Henry Odyek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09728"/>
            <a:ext cx="2024742" cy="374904"/>
          </a:xfrm>
          <a:prstGeom prst="round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55448"/>
            <a:ext cx="20247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BACKGROUND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43F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Clinical Context of Breast Cancer &amp; NAC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377440"/>
            <a:ext cx="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1389064"/>
            <a:ext cx="45720" cy="3225470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1274615"/>
            <a:ext cx="8138160" cy="33399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2000" dirty="0"/>
              <a:t>Breast cancer is one of the most diagnosed cancer globally with an incidence of about 2.3M cases annually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2000" dirty="0"/>
              <a:t>Pathological complete response (</a:t>
            </a:r>
            <a:r>
              <a:rPr lang="en-US" sz="2000" dirty="0" err="1"/>
              <a:t>pCR</a:t>
            </a:r>
            <a:r>
              <a:rPr lang="en-US" sz="2000" dirty="0"/>
              <a:t>) is the gold-standard endpoint for evaluating neoadjuvant chemotherapy (NAC) efficacy in breast cancer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2000" dirty="0"/>
              <a:t>However, only ~15-53% of patients achieve </a:t>
            </a:r>
            <a:r>
              <a:rPr lang="en-US" sz="2000" dirty="0" err="1"/>
              <a:t>pCR</a:t>
            </a:r>
            <a:r>
              <a:rPr lang="en-US" sz="2000" dirty="0"/>
              <a:t>, meaning the majority endure toxic treatment with limited benefit.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2000" dirty="0"/>
              <a:t>Pre-treatment transcriptomic profiling offers a promising avenue for identifying molecular signatures predictive of treatment response.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554480" cy="237744"/>
          </a:xfrm>
          <a:prstGeom prst="round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79" y="155447"/>
            <a:ext cx="3246121" cy="393189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43F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Gaps Motivating This Study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07008"/>
            <a:ext cx="8321040" cy="361142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8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6085" y="1437815"/>
            <a:ext cx="8006707" cy="28251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no clinically validated tool that leverages gene expression data to reliably predict </a:t>
            </a:r>
            <a:r>
              <a:rPr lang="en-US" sz="2000" dirty="0" err="1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</a:t>
            </a:r>
            <a:r>
              <a:rPr lang="en-US" sz="2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prior to NAC initiation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3A3A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develops and evaluates a machine learning pipeline using publicly available RNA-seq data (GSE163882) to classify </a:t>
            </a:r>
            <a:r>
              <a:rPr lang="en-US" sz="2000" dirty="0" err="1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</a:t>
            </a:r>
            <a:r>
              <a:rPr lang="en-US" sz="2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vs. non-</a:t>
            </a:r>
            <a:r>
              <a:rPr lang="en-US" sz="2000" dirty="0" err="1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</a:t>
            </a:r>
            <a:r>
              <a:rPr lang="en-US" sz="2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outcomes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3A3A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support precision oncology decision-making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3A3A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79" y="235497"/>
            <a:ext cx="2817495" cy="374901"/>
          </a:xfrm>
          <a:prstGeom prst="round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7853"/>
            <a:ext cx="29794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 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26710"/>
            <a:ext cx="832104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82157"/>
            <a:ext cx="8147904" cy="3567357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8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2605" y="1099536"/>
            <a:ext cx="7558790" cy="3281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AutoNum type="arabicPeriod"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 transcriptomics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pCR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prediction model</a:t>
            </a:r>
          </a:p>
          <a:p>
            <a:pPr marL="228600" indent="-228600">
              <a:buAutoNum type="arabicPeriod"/>
            </a:pPr>
            <a:endParaRPr lang="en-US" sz="20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buAutoNum type="arabicPeriod"/>
            </a:pPr>
            <a:r>
              <a:rPr lang="en-US" sz="2000" dirty="0">
                <a:latin typeface="Calibri" pitchFamily="34" charset="0"/>
                <a:cs typeface="Calibri" pitchFamily="34" charset="-120"/>
              </a:rPr>
              <a:t>To compare regularized linear model against ensemble methods under Bayesian hyperparameter optimization</a:t>
            </a:r>
          </a:p>
          <a:p>
            <a:pPr marL="228600" indent="-228600">
              <a:buAutoNum type="arabicPeriod"/>
            </a:pPr>
            <a:endParaRPr lang="en-US" sz="2000" dirty="0">
              <a:latin typeface="Calibri" pitchFamily="34" charset="0"/>
              <a:cs typeface="Calibri" pitchFamily="34" charset="-120"/>
            </a:endParaRPr>
          </a:p>
          <a:p>
            <a:pPr marL="228600" indent="-228600">
              <a:buAutoNum type="arabicPeriod"/>
            </a:pPr>
            <a:r>
              <a:rPr lang="en-US" sz="2000" dirty="0"/>
              <a:t>To identify biologically interpretable gene signatures associated with CR via SHAP analysis</a:t>
            </a:r>
          </a:p>
          <a:p>
            <a:pPr marL="228600" indent="-228600">
              <a:buAutoNum type="arabicPeriod"/>
            </a:pPr>
            <a:r>
              <a:rPr lang="en-US" sz="2000" dirty="0"/>
              <a:t>To incorporate LLM layer for deep biological contextualization</a:t>
            </a:r>
          </a:p>
          <a:p>
            <a:pPr marL="228600" indent="-228600">
              <a:buAutoNum type="arabicPeriod"/>
            </a:pPr>
            <a:endParaRPr lang="en-US" sz="2000" dirty="0"/>
          </a:p>
          <a:p>
            <a:pPr marL="228600" indent="-228600">
              <a:buAutoNum type="arabicPeriod"/>
            </a:pPr>
            <a:r>
              <a:rPr lang="en-US" sz="2000" dirty="0"/>
              <a:t>To evaluate clinical utility through decision curve analysis for NAC treatment selection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2569464" cy="320040"/>
          </a:xfrm>
          <a:prstGeom prst="round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61747" y="195834"/>
            <a:ext cx="2569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8001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43F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Analytical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29208" y="1630058"/>
            <a:ext cx="832104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</a:ln>
        </p:spPr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906227B-8BC3-D82F-D294-FC1680A823AC}"/>
              </a:ext>
            </a:extLst>
          </p:cNvPr>
          <p:cNvGrpSpPr/>
          <p:nvPr/>
        </p:nvGrpSpPr>
        <p:grpSpPr>
          <a:xfrm>
            <a:off x="287196" y="1819656"/>
            <a:ext cx="8051292" cy="2290572"/>
            <a:chOff x="411480" y="699516"/>
            <a:chExt cx="8051292" cy="2290572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BA28082-D64F-72AA-A1EB-1F05680283E2}"/>
                </a:ext>
              </a:extLst>
            </p:cNvPr>
            <p:cNvGrpSpPr/>
            <p:nvPr/>
          </p:nvGrpSpPr>
          <p:grpSpPr>
            <a:xfrm>
              <a:off x="411480" y="1207008"/>
              <a:ext cx="1261872" cy="1783080"/>
              <a:chOff x="411480" y="1207008"/>
              <a:chExt cx="1261872" cy="1783080"/>
            </a:xfrm>
          </p:grpSpPr>
          <p:sp>
            <p:nvSpPr>
              <p:cNvPr id="6" name="Shape 4"/>
              <p:cNvSpPr/>
              <p:nvPr/>
            </p:nvSpPr>
            <p:spPr>
              <a:xfrm>
                <a:off x="411480" y="1207008"/>
                <a:ext cx="1261872" cy="1783080"/>
              </a:xfrm>
              <a:prstGeom prst="roundRect">
                <a:avLst/>
              </a:prstGeom>
              <a:solidFill>
                <a:srgbClr val="243F73"/>
              </a:solidFill>
              <a:ln w="12700">
                <a:solidFill>
                  <a:srgbClr val="243F73"/>
                </a:solidFill>
                <a:prstDash val="solid"/>
              </a:ln>
            </p:spPr>
          </p:sp>
          <p:sp>
            <p:nvSpPr>
              <p:cNvPr id="7" name="Shape 5"/>
              <p:cNvSpPr/>
              <p:nvPr/>
            </p:nvSpPr>
            <p:spPr>
              <a:xfrm>
                <a:off x="841248" y="1280160"/>
                <a:ext cx="402336" cy="402336"/>
              </a:xfrm>
              <a:prstGeom prst="ellipse">
                <a:avLst/>
              </a:prstGeom>
              <a:solidFill>
                <a:srgbClr val="3D9E9B"/>
              </a:solidFill>
              <a:ln w="12700">
                <a:solidFill>
                  <a:srgbClr val="3D9E9B"/>
                </a:solidFill>
                <a:prstDash val="solid"/>
              </a:ln>
            </p:spPr>
          </p:sp>
          <p:sp>
            <p:nvSpPr>
              <p:cNvPr id="9" name="Text 7"/>
              <p:cNvSpPr/>
              <p:nvPr/>
            </p:nvSpPr>
            <p:spPr>
              <a:xfrm>
                <a:off x="457200" y="1737360"/>
                <a:ext cx="1170432" cy="2560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FFFFFF"/>
                    </a:solidFill>
                    <a:latin typeface="Trebuchet MS" pitchFamily="34" charset="0"/>
                    <a:ea typeface="Trebuchet MS" pitchFamily="34" charset="-122"/>
                    <a:cs typeface="Trebuchet MS" pitchFamily="34" charset="-120"/>
                  </a:rPr>
                  <a:t>Data</a:t>
                </a:r>
                <a:endParaRPr lang="en-US" sz="1500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457200" y="2029968"/>
                <a:ext cx="1170432" cy="8686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E4E8E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GSE163882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E4E8E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222 biopsies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E4E8E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RNA-seq TPM</a:t>
                </a:r>
                <a:endParaRPr lang="en-US" sz="1200" dirty="0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1B409754-F94C-D627-2537-0522E1E0C7D2}"/>
                </a:ext>
              </a:extLst>
            </p:cNvPr>
            <p:cNvGrpSpPr/>
            <p:nvPr/>
          </p:nvGrpSpPr>
          <p:grpSpPr>
            <a:xfrm>
              <a:off x="1764792" y="699516"/>
              <a:ext cx="1261872" cy="2290572"/>
              <a:chOff x="1764792" y="699516"/>
              <a:chExt cx="1261872" cy="2290572"/>
            </a:xfrm>
          </p:grpSpPr>
          <p:sp>
            <p:nvSpPr>
              <p:cNvPr id="12" name="Shape 10"/>
              <p:cNvSpPr/>
              <p:nvPr/>
            </p:nvSpPr>
            <p:spPr>
              <a:xfrm>
                <a:off x="1764792" y="1207008"/>
                <a:ext cx="1261872" cy="1783080"/>
              </a:xfrm>
              <a:prstGeom prst="roundRect">
                <a:avLst/>
              </a:prstGeom>
              <a:solidFill>
                <a:srgbClr val="243F73"/>
              </a:solidFill>
              <a:ln w="12700">
                <a:solidFill>
                  <a:srgbClr val="243F73"/>
                </a:solidFill>
                <a:prstDash val="solid"/>
              </a:ln>
            </p:spPr>
            <p:txBody>
              <a:bodyPr/>
              <a:lstStyle/>
              <a:p>
                <a:endParaRPr lang="en-UG" dirty="0"/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2174966" y="699516"/>
                <a:ext cx="402336" cy="40233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FFFFF"/>
                    </a:solidFill>
                    <a:latin typeface="Trebuchet MS" pitchFamily="34" charset="0"/>
                    <a:ea typeface="Trebuchet MS" pitchFamily="34" charset="-122"/>
                    <a:cs typeface="Trebuchet MS" pitchFamily="34" charset="-120"/>
                  </a:rPr>
                  <a:t>2</a:t>
                </a:r>
                <a:endParaRPr lang="en-US" sz="1300" dirty="0"/>
              </a:p>
            </p:txBody>
          </p:sp>
          <p:sp>
            <p:nvSpPr>
              <p:cNvPr id="15" name="Text 13"/>
              <p:cNvSpPr/>
              <p:nvPr/>
            </p:nvSpPr>
            <p:spPr>
              <a:xfrm>
                <a:off x="1810512" y="1737360"/>
                <a:ext cx="1170432" cy="2560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FFFFFF"/>
                    </a:solidFill>
                    <a:latin typeface="Trebuchet MS" pitchFamily="34" charset="0"/>
                    <a:ea typeface="Trebuchet MS" pitchFamily="34" charset="-122"/>
                    <a:cs typeface="Trebuchet MS" pitchFamily="34" charset="-120"/>
                  </a:rPr>
                  <a:t>Preprocess</a:t>
                </a:r>
                <a:endParaRPr lang="en-US" sz="1500" dirty="0"/>
              </a:p>
            </p:txBody>
          </p:sp>
          <p:sp>
            <p:nvSpPr>
              <p:cNvPr id="16" name="Text 14"/>
              <p:cNvSpPr/>
              <p:nvPr/>
            </p:nvSpPr>
            <p:spPr>
              <a:xfrm>
                <a:off x="1810512" y="2029968"/>
                <a:ext cx="1170432" cy="8686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E4E8E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log₂(TPM+1)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E4E8E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Variance stab.</a:t>
                </a:r>
                <a:endParaRPr lang="en-US" sz="1200" dirty="0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46D9CA7A-785A-25A0-EE0D-23F15058860A}"/>
                </a:ext>
              </a:extLst>
            </p:cNvPr>
            <p:cNvGrpSpPr/>
            <p:nvPr/>
          </p:nvGrpSpPr>
          <p:grpSpPr>
            <a:xfrm>
              <a:off x="3118104" y="1207008"/>
              <a:ext cx="1261872" cy="1783080"/>
              <a:chOff x="3118104" y="1207008"/>
              <a:chExt cx="1261872" cy="1783080"/>
            </a:xfrm>
          </p:grpSpPr>
          <p:sp>
            <p:nvSpPr>
              <p:cNvPr id="18" name="Shape 16"/>
              <p:cNvSpPr/>
              <p:nvPr/>
            </p:nvSpPr>
            <p:spPr>
              <a:xfrm>
                <a:off x="3118104" y="1207008"/>
                <a:ext cx="1261872" cy="1783080"/>
              </a:xfrm>
              <a:prstGeom prst="roundRect">
                <a:avLst/>
              </a:prstGeom>
              <a:solidFill>
                <a:srgbClr val="2B7A78"/>
              </a:solidFill>
              <a:ln w="12700">
                <a:solidFill>
                  <a:srgbClr val="2B7A78"/>
                </a:solidFill>
                <a:prstDash val="solid"/>
              </a:ln>
            </p:spPr>
          </p:sp>
          <p:sp>
            <p:nvSpPr>
              <p:cNvPr id="19" name="Shape 17"/>
              <p:cNvSpPr/>
              <p:nvPr/>
            </p:nvSpPr>
            <p:spPr>
              <a:xfrm>
                <a:off x="3547872" y="1280160"/>
                <a:ext cx="402336" cy="402336"/>
              </a:xfrm>
              <a:prstGeom prst="ellipse">
                <a:avLst/>
              </a:prstGeom>
              <a:solidFill>
                <a:srgbClr val="3D9E9B"/>
              </a:solidFill>
              <a:ln w="12700">
                <a:solidFill>
                  <a:srgbClr val="3D9E9B"/>
                </a:solidFill>
                <a:prstDash val="solid"/>
              </a:ln>
            </p:spPr>
          </p:sp>
          <p:sp>
            <p:nvSpPr>
              <p:cNvPr id="21" name="Text 19"/>
              <p:cNvSpPr/>
              <p:nvPr/>
            </p:nvSpPr>
            <p:spPr>
              <a:xfrm>
                <a:off x="3163824" y="1786128"/>
                <a:ext cx="1170432" cy="2560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FFFFFF"/>
                    </a:solidFill>
                    <a:latin typeface="Trebuchet MS" pitchFamily="34" charset="0"/>
                    <a:ea typeface="Trebuchet MS" pitchFamily="34" charset="-122"/>
                    <a:cs typeface="Trebuchet MS" pitchFamily="34" charset="-120"/>
                  </a:rPr>
                  <a:t>Feature Select</a:t>
                </a:r>
                <a:endParaRPr lang="en-US" sz="1500" dirty="0"/>
              </a:p>
            </p:txBody>
          </p:sp>
          <p:sp>
            <p:nvSpPr>
              <p:cNvPr id="22" name="Text 20"/>
              <p:cNvSpPr/>
              <p:nvPr/>
            </p:nvSpPr>
            <p:spPr>
              <a:xfrm>
                <a:off x="3163824" y="2029968"/>
                <a:ext cx="1170432" cy="8686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E4E8E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Spearman ρ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E4E8E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 &lt; 0.001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E4E8E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60,279 → 575</a:t>
                </a:r>
                <a:endParaRPr lang="en-US" sz="1200" dirty="0"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A928D6A8-6FFE-2891-4F2F-610FB4339993}"/>
                </a:ext>
              </a:extLst>
            </p:cNvPr>
            <p:cNvGrpSpPr/>
            <p:nvPr/>
          </p:nvGrpSpPr>
          <p:grpSpPr>
            <a:xfrm>
              <a:off x="4471416" y="1207008"/>
              <a:ext cx="1307592" cy="1783080"/>
              <a:chOff x="4471416" y="1207008"/>
              <a:chExt cx="1307592" cy="1783080"/>
            </a:xfrm>
          </p:grpSpPr>
          <p:sp>
            <p:nvSpPr>
              <p:cNvPr id="24" name="Shape 22"/>
              <p:cNvSpPr/>
              <p:nvPr/>
            </p:nvSpPr>
            <p:spPr>
              <a:xfrm>
                <a:off x="4471416" y="1207008"/>
                <a:ext cx="1261872" cy="1783080"/>
              </a:xfrm>
              <a:prstGeom prst="roundRect">
                <a:avLst/>
              </a:prstGeom>
              <a:solidFill>
                <a:srgbClr val="2B7A78"/>
              </a:solidFill>
              <a:ln w="12700">
                <a:solidFill>
                  <a:srgbClr val="2B7A78"/>
                </a:solidFill>
                <a:prstDash val="solid"/>
              </a:ln>
            </p:spPr>
          </p:sp>
          <p:sp>
            <p:nvSpPr>
              <p:cNvPr id="25" name="Shape 23"/>
              <p:cNvSpPr/>
              <p:nvPr/>
            </p:nvSpPr>
            <p:spPr>
              <a:xfrm>
                <a:off x="4901184" y="1280160"/>
                <a:ext cx="402336" cy="402336"/>
              </a:xfrm>
              <a:prstGeom prst="ellipse">
                <a:avLst/>
              </a:prstGeom>
              <a:solidFill>
                <a:srgbClr val="3D9E9B"/>
              </a:solidFill>
              <a:ln w="12700">
                <a:solidFill>
                  <a:srgbClr val="3D9E9B"/>
                </a:solidFill>
                <a:prstDash val="solid"/>
              </a:ln>
            </p:spPr>
          </p:sp>
          <p:sp>
            <p:nvSpPr>
              <p:cNvPr id="27" name="Text 25"/>
              <p:cNvSpPr/>
              <p:nvPr/>
            </p:nvSpPr>
            <p:spPr>
              <a:xfrm>
                <a:off x="4517136" y="1737360"/>
                <a:ext cx="1261872" cy="2560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FFFFFF"/>
                    </a:solidFill>
                    <a:latin typeface="Trebuchet MS" pitchFamily="34" charset="0"/>
                    <a:ea typeface="Trebuchet MS" pitchFamily="34" charset="-122"/>
                    <a:cs typeface="Trebuchet MS" pitchFamily="34" charset="-120"/>
                  </a:rPr>
                  <a:t>Model Train</a:t>
                </a:r>
                <a:endParaRPr lang="en-US" sz="1500" dirty="0"/>
              </a:p>
            </p:txBody>
          </p:sp>
          <p:sp>
            <p:nvSpPr>
              <p:cNvPr id="28" name="Text 26"/>
              <p:cNvSpPr/>
              <p:nvPr/>
            </p:nvSpPr>
            <p:spPr>
              <a:xfrm>
                <a:off x="4517136" y="2029968"/>
                <a:ext cx="1170432" cy="8686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E4E8E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LR · RF · XGB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E4E8E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Stacking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E4E8E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Bayesian optimization</a:t>
                </a:r>
                <a:endParaRPr lang="en-US" sz="1200" dirty="0"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F1234730-21C9-A1DF-339A-3C20E071E527}"/>
                </a:ext>
              </a:extLst>
            </p:cNvPr>
            <p:cNvGrpSpPr/>
            <p:nvPr/>
          </p:nvGrpSpPr>
          <p:grpSpPr>
            <a:xfrm>
              <a:off x="5824728" y="1207008"/>
              <a:ext cx="1261872" cy="1783080"/>
              <a:chOff x="5824728" y="1207008"/>
              <a:chExt cx="1261872" cy="1783080"/>
            </a:xfrm>
          </p:grpSpPr>
          <p:sp>
            <p:nvSpPr>
              <p:cNvPr id="30" name="Shape 28"/>
              <p:cNvSpPr/>
              <p:nvPr/>
            </p:nvSpPr>
            <p:spPr>
              <a:xfrm>
                <a:off x="5824728" y="1207008"/>
                <a:ext cx="1261872" cy="1783080"/>
              </a:xfrm>
              <a:prstGeom prst="roundRect">
                <a:avLst/>
              </a:prstGeom>
              <a:solidFill>
                <a:srgbClr val="243F73"/>
              </a:solidFill>
              <a:ln w="12700">
                <a:solidFill>
                  <a:srgbClr val="243F73"/>
                </a:solidFill>
                <a:prstDash val="solid"/>
              </a:ln>
            </p:spPr>
          </p:sp>
          <p:sp>
            <p:nvSpPr>
              <p:cNvPr id="31" name="Shape 29"/>
              <p:cNvSpPr/>
              <p:nvPr/>
            </p:nvSpPr>
            <p:spPr>
              <a:xfrm>
                <a:off x="6254496" y="1280160"/>
                <a:ext cx="402336" cy="402336"/>
              </a:xfrm>
              <a:prstGeom prst="ellipse">
                <a:avLst/>
              </a:prstGeom>
              <a:solidFill>
                <a:srgbClr val="3D9E9B"/>
              </a:solidFill>
              <a:ln w="12700">
                <a:solidFill>
                  <a:srgbClr val="3D9E9B"/>
                </a:solidFill>
                <a:prstDash val="solid"/>
              </a:ln>
            </p:spPr>
          </p:sp>
          <p:sp>
            <p:nvSpPr>
              <p:cNvPr id="33" name="Text 31"/>
              <p:cNvSpPr/>
              <p:nvPr/>
            </p:nvSpPr>
            <p:spPr>
              <a:xfrm>
                <a:off x="5870448" y="1810512"/>
                <a:ext cx="1170432" cy="2560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FFFFFF"/>
                    </a:solidFill>
                    <a:latin typeface="Trebuchet MS" pitchFamily="34" charset="0"/>
                    <a:ea typeface="Trebuchet MS" pitchFamily="34" charset="-122"/>
                    <a:cs typeface="Trebuchet MS" pitchFamily="34" charset="-120"/>
                  </a:rPr>
                  <a:t>SHAP &amp; LLM Layer</a:t>
                </a:r>
                <a:endParaRPr lang="en-US" sz="1500" dirty="0"/>
              </a:p>
            </p:txBody>
          </p:sp>
          <p:sp>
            <p:nvSpPr>
              <p:cNvPr id="34" name="Text 32"/>
              <p:cNvSpPr/>
              <p:nvPr/>
            </p:nvSpPr>
            <p:spPr>
              <a:xfrm>
                <a:off x="5870448" y="2029968"/>
                <a:ext cx="1170432" cy="8686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E4E8E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TreeExplainer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E4E8E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Top-20 genes</a:t>
                </a:r>
              </a:p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E4E8EE"/>
                    </a:solidFill>
                    <a:latin typeface="Calibri" pitchFamily="34" charset="0"/>
                    <a:cs typeface="Calibri" pitchFamily="34" charset="-120"/>
                  </a:rPr>
                  <a:t>Groq AI </a:t>
                </a:r>
                <a:endParaRPr lang="en-US" sz="1200" dirty="0"/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8F986DA0-AFD0-EB98-B61C-5A5694E045F7}"/>
                </a:ext>
              </a:extLst>
            </p:cNvPr>
            <p:cNvGrpSpPr/>
            <p:nvPr/>
          </p:nvGrpSpPr>
          <p:grpSpPr>
            <a:xfrm>
              <a:off x="7155180" y="1207008"/>
              <a:ext cx="1307592" cy="1783080"/>
              <a:chOff x="7155180" y="1207008"/>
              <a:chExt cx="1307592" cy="1783080"/>
            </a:xfrm>
          </p:grpSpPr>
          <p:sp>
            <p:nvSpPr>
              <p:cNvPr id="36" name="Shape 34"/>
              <p:cNvSpPr/>
              <p:nvPr/>
            </p:nvSpPr>
            <p:spPr>
              <a:xfrm>
                <a:off x="7178040" y="1207008"/>
                <a:ext cx="1261872" cy="1783080"/>
              </a:xfrm>
              <a:prstGeom prst="roundRect">
                <a:avLst/>
              </a:prstGeom>
              <a:solidFill>
                <a:srgbClr val="243F73"/>
              </a:solidFill>
              <a:ln w="12700">
                <a:solidFill>
                  <a:srgbClr val="243F73"/>
                </a:solidFill>
                <a:prstDash val="solid"/>
              </a:ln>
            </p:spPr>
          </p:sp>
          <p:sp>
            <p:nvSpPr>
              <p:cNvPr id="37" name="Shape 35"/>
              <p:cNvSpPr/>
              <p:nvPr/>
            </p:nvSpPr>
            <p:spPr>
              <a:xfrm>
                <a:off x="7607808" y="1280160"/>
                <a:ext cx="402336" cy="402336"/>
              </a:xfrm>
              <a:prstGeom prst="ellipse">
                <a:avLst/>
              </a:prstGeom>
              <a:solidFill>
                <a:srgbClr val="3D9E9B"/>
              </a:solidFill>
              <a:ln w="12700">
                <a:solidFill>
                  <a:srgbClr val="3D9E9B"/>
                </a:solidFill>
                <a:prstDash val="solid"/>
              </a:ln>
            </p:spPr>
          </p:sp>
          <p:sp>
            <p:nvSpPr>
              <p:cNvPr id="39" name="Text 37"/>
              <p:cNvSpPr/>
              <p:nvPr/>
            </p:nvSpPr>
            <p:spPr>
              <a:xfrm>
                <a:off x="7155180" y="1737360"/>
                <a:ext cx="1307592" cy="2560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FFFFFF"/>
                    </a:solidFill>
                    <a:latin typeface="Trebuchet MS" pitchFamily="34" charset="0"/>
                    <a:ea typeface="Trebuchet MS" pitchFamily="34" charset="-122"/>
                    <a:cs typeface="Trebuchet MS" pitchFamily="34" charset="-120"/>
                  </a:rPr>
                  <a:t>Clinical Util.</a:t>
                </a:r>
                <a:endParaRPr lang="en-US" sz="1500" dirty="0"/>
              </a:p>
            </p:txBody>
          </p:sp>
          <p:sp>
            <p:nvSpPr>
              <p:cNvPr id="40" name="Text 38"/>
              <p:cNvSpPr/>
              <p:nvPr/>
            </p:nvSpPr>
            <p:spPr>
              <a:xfrm>
                <a:off x="7223760" y="2029968"/>
                <a:ext cx="1170432" cy="8686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E4E8E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Calibration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E4E8E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Decision Curve Analysis</a:t>
                </a:r>
                <a:endParaRPr lang="en-US" sz="1200" dirty="0"/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6227E73-E2F4-DDE3-3201-64F861638EC1}"/>
              </a:ext>
            </a:extLst>
          </p:cNvPr>
          <p:cNvGrpSpPr/>
          <p:nvPr/>
        </p:nvGrpSpPr>
        <p:grpSpPr>
          <a:xfrm>
            <a:off x="716964" y="2393442"/>
            <a:ext cx="7168896" cy="818388"/>
            <a:chOff x="841248" y="1280160"/>
            <a:chExt cx="7168896" cy="818388"/>
          </a:xfrm>
        </p:grpSpPr>
        <p:sp>
          <p:nvSpPr>
            <p:cNvPr id="8" name="Text 6"/>
            <p:cNvSpPr/>
            <p:nvPr/>
          </p:nvSpPr>
          <p:spPr>
            <a:xfrm>
              <a:off x="841248" y="1280160"/>
              <a:ext cx="40233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1</a:t>
              </a:r>
              <a:endParaRPr lang="en-US" sz="13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1673352" y="2098548"/>
              <a:ext cx="91440" cy="0"/>
            </a:xfrm>
            <a:prstGeom prst="line">
              <a:avLst/>
            </a:prstGeom>
            <a:noFill/>
            <a:ln w="19050">
              <a:solidFill>
                <a:srgbClr val="3D9E9B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3026664" y="2098548"/>
              <a:ext cx="91440" cy="0"/>
            </a:xfrm>
            <a:prstGeom prst="line">
              <a:avLst/>
            </a:prstGeom>
            <a:noFill/>
            <a:ln w="19050">
              <a:solidFill>
                <a:srgbClr val="3D9E9B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3547872" y="1280160"/>
              <a:ext cx="40233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3</a:t>
              </a:r>
              <a:endParaRPr lang="en-US" sz="13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4379976" y="2098548"/>
              <a:ext cx="91440" cy="0"/>
            </a:xfrm>
            <a:prstGeom prst="line">
              <a:avLst/>
            </a:prstGeom>
            <a:noFill/>
            <a:ln w="19050">
              <a:solidFill>
                <a:srgbClr val="3D9E9B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4901184" y="1280160"/>
              <a:ext cx="40233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4</a:t>
              </a:r>
              <a:endParaRPr lang="en-US" sz="13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5733288" y="2098548"/>
              <a:ext cx="91440" cy="0"/>
            </a:xfrm>
            <a:prstGeom prst="line">
              <a:avLst/>
            </a:prstGeom>
            <a:noFill/>
            <a:ln w="19050">
              <a:solidFill>
                <a:srgbClr val="3D9E9B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6254496" y="1280160"/>
              <a:ext cx="40233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5</a:t>
              </a:r>
              <a:endParaRPr lang="en-US" sz="13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7086600" y="2098548"/>
              <a:ext cx="91440" cy="0"/>
            </a:xfrm>
            <a:prstGeom prst="line">
              <a:avLst/>
            </a:prstGeom>
            <a:noFill/>
            <a:ln w="19050">
              <a:solidFill>
                <a:srgbClr val="3D9E9B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7607808" y="1280160"/>
              <a:ext cx="40233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6</a:t>
              </a:r>
              <a:endParaRPr lang="en-US" sz="13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2194560" y="1280160"/>
              <a:ext cx="402336" cy="402336"/>
            </a:xfrm>
            <a:prstGeom prst="ellipse">
              <a:avLst/>
            </a:prstGeom>
            <a:solidFill>
              <a:srgbClr val="3D9E9B"/>
            </a:solidFill>
            <a:ln w="12700">
              <a:solidFill>
                <a:srgbClr val="3D9E9B"/>
              </a:solidFill>
              <a:prstDash val="solid"/>
            </a:ln>
          </p:spPr>
          <p:txBody>
            <a:bodyPr/>
            <a:lstStyle/>
            <a:p>
              <a:endParaRPr lang="en-UG" dirty="0"/>
            </a:p>
          </p:txBody>
        </p:sp>
      </p:grpSp>
      <p:sp>
        <p:nvSpPr>
          <p:cNvPr id="56" name="Text 12">
            <a:extLst>
              <a:ext uri="{FF2B5EF4-FFF2-40B4-BE49-F238E27FC236}">
                <a16:creationId xmlns:a16="http://schemas.microsoft.com/office/drawing/2014/main" id="{AD448A11-303E-7B8D-4AD5-8F4BA21C09D1}"/>
              </a:ext>
            </a:extLst>
          </p:cNvPr>
          <p:cNvSpPr/>
          <p:nvPr/>
        </p:nvSpPr>
        <p:spPr>
          <a:xfrm>
            <a:off x="2070276" y="23911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5219"/>
            <a:ext cx="1554480" cy="379476"/>
          </a:xfrm>
          <a:prstGeom prst="round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5544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43F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GSE163882 - Study Population &amp; Data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</a:ln>
        </p:spPr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9B7238F-D808-0AFF-EF8D-BA56E74332E6}"/>
              </a:ext>
            </a:extLst>
          </p:cNvPr>
          <p:cNvGrpSpPr/>
          <p:nvPr/>
        </p:nvGrpSpPr>
        <p:grpSpPr>
          <a:xfrm>
            <a:off x="696289" y="1170431"/>
            <a:ext cx="7886331" cy="3738843"/>
            <a:chOff x="846189" y="1170432"/>
            <a:chExt cx="5017643" cy="2761488"/>
          </a:xfrm>
        </p:grpSpPr>
        <p:sp>
          <p:nvSpPr>
            <p:cNvPr id="6" name="Shape 4"/>
            <p:cNvSpPr/>
            <p:nvPr/>
          </p:nvSpPr>
          <p:spPr>
            <a:xfrm>
              <a:off x="846189" y="1170432"/>
              <a:ext cx="5017643" cy="329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937630" y="1216152"/>
              <a:ext cx="1736876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43F7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GEO Accession:</a:t>
              </a:r>
              <a:endParaRPr lang="en-US" sz="2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674989" y="1216152"/>
              <a:ext cx="2991287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3A3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GSE163882</a:t>
              </a:r>
              <a:endParaRPr lang="en-US" sz="2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846189" y="1517904"/>
              <a:ext cx="5017643" cy="329184"/>
            </a:xfrm>
            <a:prstGeom prst="rect">
              <a:avLst/>
            </a:prstGeom>
            <a:solidFill>
              <a:srgbClr val="E4E8EE"/>
            </a:solidFill>
            <a:ln w="12700">
              <a:solidFill>
                <a:srgbClr val="E4E8EE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937630" y="1563624"/>
              <a:ext cx="1736876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43F7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Publication:</a:t>
              </a:r>
              <a:endParaRPr lang="en-US" sz="2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674989" y="1563624"/>
              <a:ext cx="2991287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3A3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Park et al., Nature Comms, 2020</a:t>
              </a:r>
              <a:endParaRPr lang="en-US" sz="2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846189" y="1865376"/>
              <a:ext cx="5017643" cy="329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937630" y="1911096"/>
              <a:ext cx="1736876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43F7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Sample size:</a:t>
              </a:r>
              <a:endParaRPr lang="en-US" sz="2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2674989" y="1911096"/>
              <a:ext cx="2991287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3A3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 = 222 pre-treatment biopsies</a:t>
              </a:r>
              <a:endParaRPr lang="en-US" sz="2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846189" y="2212848"/>
              <a:ext cx="5017643" cy="329184"/>
            </a:xfrm>
            <a:prstGeom prst="rect">
              <a:avLst/>
            </a:prstGeom>
            <a:solidFill>
              <a:srgbClr val="E4E8EE"/>
            </a:solidFill>
            <a:ln w="12700">
              <a:solidFill>
                <a:srgbClr val="E4E8EE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937630" y="2258568"/>
              <a:ext cx="1736876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43F7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Expression data:</a:t>
              </a:r>
              <a:endParaRPr lang="en-US" sz="20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674989" y="2258568"/>
              <a:ext cx="2991287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3A3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RNA-seq, quantified as TPM</a:t>
              </a:r>
              <a:endParaRPr lang="en-US" sz="2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846189" y="2560320"/>
              <a:ext cx="5017643" cy="329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G" sz="2000"/>
            </a:p>
          </p:txBody>
        </p:sp>
        <p:sp>
          <p:nvSpPr>
            <p:cNvPr id="19" name="Text 17"/>
            <p:cNvSpPr/>
            <p:nvPr/>
          </p:nvSpPr>
          <p:spPr>
            <a:xfrm>
              <a:off x="937630" y="2606040"/>
              <a:ext cx="1736876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43F7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Total features:</a:t>
              </a:r>
              <a:endParaRPr lang="en-US" sz="2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674989" y="2606040"/>
              <a:ext cx="2991287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3A3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60,279 expressed genes</a:t>
              </a:r>
              <a:endParaRPr lang="en-US" sz="2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846189" y="2907792"/>
              <a:ext cx="5017643" cy="329184"/>
            </a:xfrm>
            <a:prstGeom prst="rect">
              <a:avLst/>
            </a:prstGeom>
            <a:solidFill>
              <a:srgbClr val="E4E8EE"/>
            </a:solidFill>
            <a:ln w="12700">
              <a:solidFill>
                <a:srgbClr val="E4E8EE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937630" y="2953512"/>
              <a:ext cx="1736876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43F7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Outcome:</a:t>
              </a:r>
              <a:endParaRPr lang="en-US" sz="20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2674989" y="2953512"/>
              <a:ext cx="2991287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 err="1">
                  <a:solidFill>
                    <a:srgbClr val="3A3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pCR</a:t>
              </a:r>
              <a:r>
                <a:rPr lang="en-US" sz="2000" dirty="0">
                  <a:solidFill>
                    <a:srgbClr val="3A3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vs. Residual Disease</a:t>
              </a:r>
              <a:endParaRPr lang="en-US" sz="2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846189" y="3255264"/>
              <a:ext cx="5017643" cy="329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937630" y="3300984"/>
              <a:ext cx="1736876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43F7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Institutions:</a:t>
              </a:r>
              <a:endParaRPr lang="en-US" sz="2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2674989" y="3300984"/>
              <a:ext cx="2991287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3A3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Multi-site — US &amp; Brazil</a:t>
              </a:r>
              <a:endParaRPr lang="en-US" sz="2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846189" y="3602736"/>
              <a:ext cx="5017643" cy="329184"/>
            </a:xfrm>
            <a:prstGeom prst="rect">
              <a:avLst/>
            </a:prstGeom>
            <a:solidFill>
              <a:srgbClr val="E4E8EE"/>
            </a:solidFill>
            <a:ln w="12700">
              <a:solidFill>
                <a:srgbClr val="E4E8EE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937630" y="3648456"/>
              <a:ext cx="1736876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43F7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NAC regimen:</a:t>
              </a:r>
              <a:endParaRPr lang="en-US" sz="20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2674989" y="3648456"/>
              <a:ext cx="2991287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3A3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Anthracycline / taxane-based</a:t>
              </a:r>
              <a:endParaRPr lang="en-US" sz="20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F3A185-A631-B4AB-4014-6895E8AC1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0986E975-43D5-1C8C-E046-B78B6A2C6413}"/>
              </a:ext>
            </a:extLst>
          </p:cNvPr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43F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quality check &amp; Data Exploration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94D797-B2D9-54B3-614A-482F19607FA7}"/>
              </a:ext>
            </a:extLst>
          </p:cNvPr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</a:ln>
        </p:spPr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3C00F97F-AFE7-9200-B492-14CED16B05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61"/>
          <a:stretch>
            <a:fillRect/>
          </a:stretch>
        </p:blipFill>
        <p:spPr bwMode="auto">
          <a:xfrm>
            <a:off x="4745877" y="1411470"/>
            <a:ext cx="3986643" cy="30100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A3C6E2-0E21-0852-16BB-FE4DAEABF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015" y="1401970"/>
            <a:ext cx="4368063" cy="301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996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F3A185-A631-B4AB-4014-6895E8AC1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0986E975-43D5-1C8C-E046-B78B6A2C6413}"/>
              </a:ext>
            </a:extLst>
          </p:cNvPr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43F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Exploration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94D797-B2D9-54B3-614A-482F19607FA7}"/>
              </a:ext>
            </a:extLst>
          </p:cNvPr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</a:ln>
        </p:spPr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0A1572A-0D50-4AC2-11EC-0DE4CD980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88" y="1258766"/>
            <a:ext cx="8871624" cy="3252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176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43F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Dimensionality Reduction: PCA 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45059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umap_analysis.png — UMAP sample embedding ]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4059936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3F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4059936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3F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UMAP</a:t>
            </a:r>
            <a:endParaRPr lang="en-US" sz="15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0B01F45-8DCE-37DB-7B35-29EE57A5F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1560"/>
            <a:ext cx="9144000" cy="3217943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1C2EEBE3-8FB3-D6DB-A0E5-CD1F1FB80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61672"/>
            <a:ext cx="897317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G" altLang="en-UG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pCR</a:t>
            </a:r>
            <a:r>
              <a:rPr kumimoji="0" lang="en-UG" altLang="en-UG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RD classes overlap across PC1–PC2, with 20 components explaining only </a:t>
            </a:r>
            <a:r>
              <a:rPr kumimoji="0" lang="en-US" altLang="en-UG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about </a:t>
            </a:r>
            <a:r>
              <a:rPr kumimoji="0" lang="en-UG" altLang="en-UG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59% of variance</a:t>
            </a:r>
            <a:r>
              <a:rPr kumimoji="0" lang="en-US" altLang="en-UG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G" altLang="en-UG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justifying Spearman-based feature selection over PCA reduction</a:t>
            </a:r>
            <a:endParaRPr kumimoji="0" lang="en-US" altLang="en-UG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G" sz="1200" dirty="0">
                <a:latin typeface="Arial" panose="020B0604020202020204" pitchFamily="34" charset="0"/>
              </a:rPr>
              <a:t>Presence of the outlier pushes the clustering to the left; we used UMAP which is best for non linear relationships</a:t>
            </a:r>
            <a:endParaRPr kumimoji="0" lang="en-UG" altLang="en-UG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43F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Dimensionality Reduction: UMAP 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059936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3F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PCA</a:t>
            </a:r>
            <a:endParaRPr lang="en-US" sz="15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1BE05F-008A-A8DC-4732-C57652A3A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526" y="1124713"/>
            <a:ext cx="5896947" cy="3808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165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29982"/>
            <a:ext cx="8321040" cy="36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43F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362019"/>
            <a:ext cx="832104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8F9212-2AE5-CD1B-62E5-800BF41BC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175" y="817987"/>
            <a:ext cx="861934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Log2(TPM + 1) Transformation: Applied to stabilize variance and normalize the skewed distribution.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G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Splitting: Applied a stratified 80/20 train-test split to preserve the 1.77:1 class ratio in both sets.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G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Selection: On the training set only, we applied Spearman Rank Correlation (P &lt; 0.001) to identify genes </a:t>
            </a:r>
            <a:r>
              <a:rPr lang="en-US" altLang="en-UG" sz="2000" dirty="0">
                <a:latin typeface="Arial" panose="020B0604020202020204" pitchFamily="34" charset="0"/>
              </a:rPr>
              <a:t>that show </a:t>
            </a:r>
            <a:r>
              <a:rPr kumimoji="0" lang="en-US" altLang="en-U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association with response.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G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Scaling: Applied Standard Scaler (Z-score normalization) fit strictly on the training data.</a:t>
            </a:r>
            <a:endParaRPr kumimoji="0" lang="en-UG" altLang="en-UG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76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512063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243F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r>
              <a:rPr lang="en-US" sz="2200" dirty="0"/>
              <a:t>: </a:t>
            </a:r>
            <a:r>
              <a:rPr lang="en-US" sz="2200" b="1" dirty="0">
                <a:solidFill>
                  <a:srgbClr val="243F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</a:ln>
        </p:spPr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04986A0-C161-85F2-DF40-D7AF6DA3EDF9}"/>
              </a:ext>
            </a:extLst>
          </p:cNvPr>
          <p:cNvGrpSpPr/>
          <p:nvPr/>
        </p:nvGrpSpPr>
        <p:grpSpPr>
          <a:xfrm>
            <a:off x="411480" y="1298658"/>
            <a:ext cx="5224823" cy="3240872"/>
            <a:chOff x="411479" y="1188720"/>
            <a:chExt cx="5276089" cy="2383745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C4F59F5C-EB7C-1989-E5B9-40F60977D62C}"/>
                </a:ext>
              </a:extLst>
            </p:cNvPr>
            <p:cNvGrpSpPr/>
            <p:nvPr/>
          </p:nvGrpSpPr>
          <p:grpSpPr>
            <a:xfrm>
              <a:off x="411480" y="1188720"/>
              <a:ext cx="5276088" cy="557784"/>
              <a:chOff x="411480" y="1188720"/>
              <a:chExt cx="5276088" cy="557784"/>
            </a:xfrm>
          </p:grpSpPr>
          <p:sp>
            <p:nvSpPr>
              <p:cNvPr id="6" name="Shape 4"/>
              <p:cNvSpPr/>
              <p:nvPr/>
            </p:nvSpPr>
            <p:spPr>
              <a:xfrm>
                <a:off x="411480" y="1188720"/>
                <a:ext cx="5276088" cy="502914"/>
              </a:xfrm>
              <a:prstGeom prst="roundRect">
                <a:avLst/>
              </a:prstGeom>
              <a:solidFill>
                <a:srgbClr val="243F73"/>
              </a:solidFill>
              <a:ln w="12700">
                <a:solidFill>
                  <a:srgbClr val="243F73"/>
                </a:solidFill>
                <a:prstDash val="solid"/>
              </a:ln>
            </p:spPr>
          </p:sp>
          <p:sp>
            <p:nvSpPr>
              <p:cNvPr id="7" name="Text 5"/>
              <p:cNvSpPr/>
              <p:nvPr/>
            </p:nvSpPr>
            <p:spPr>
              <a:xfrm>
                <a:off x="411480" y="1243584"/>
                <a:ext cx="3532909" cy="5029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Trebuchet MS" pitchFamily="34" charset="0"/>
                    <a:ea typeface="Trebuchet MS" pitchFamily="34" charset="-122"/>
                    <a:cs typeface="Trebuchet MS" pitchFamily="34" charset="-120"/>
                  </a:rPr>
                  <a:t>60,279</a:t>
                </a:r>
                <a:endParaRPr lang="en-US" sz="1600" dirty="0"/>
              </a:p>
            </p:txBody>
          </p:sp>
          <p:sp>
            <p:nvSpPr>
              <p:cNvPr id="8" name="Text 6"/>
              <p:cNvSpPr/>
              <p:nvPr/>
            </p:nvSpPr>
            <p:spPr>
              <a:xfrm>
                <a:off x="2731211" y="1295401"/>
                <a:ext cx="1779640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20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All expressed genes</a:t>
                </a:r>
                <a:endParaRPr lang="en-US" sz="1200" dirty="0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B905C56-CFA5-EF56-3268-C0410530A89B}"/>
                </a:ext>
              </a:extLst>
            </p:cNvPr>
            <p:cNvGrpSpPr/>
            <p:nvPr/>
          </p:nvGrpSpPr>
          <p:grpSpPr>
            <a:xfrm>
              <a:off x="1692399" y="2203913"/>
              <a:ext cx="2490244" cy="414148"/>
              <a:chOff x="1692399" y="2203913"/>
              <a:chExt cx="2490244" cy="414148"/>
            </a:xfrm>
          </p:grpSpPr>
          <p:sp>
            <p:nvSpPr>
              <p:cNvPr id="18" name="Shape 16"/>
              <p:cNvSpPr/>
              <p:nvPr/>
            </p:nvSpPr>
            <p:spPr>
              <a:xfrm>
                <a:off x="1991974" y="2203913"/>
                <a:ext cx="2127944" cy="414148"/>
              </a:xfrm>
              <a:prstGeom prst="roundRect">
                <a:avLst/>
              </a:prstGeom>
              <a:solidFill>
                <a:srgbClr val="2B7A78"/>
              </a:solidFill>
              <a:ln w="12700">
                <a:solidFill>
                  <a:srgbClr val="2B7A78"/>
                </a:solidFill>
                <a:prstDash val="solid"/>
              </a:ln>
            </p:spPr>
          </p:sp>
          <p:sp>
            <p:nvSpPr>
              <p:cNvPr id="19" name="Text 17"/>
              <p:cNvSpPr/>
              <p:nvPr/>
            </p:nvSpPr>
            <p:spPr>
              <a:xfrm>
                <a:off x="1692399" y="2231517"/>
                <a:ext cx="1163781" cy="357695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Trebuchet MS" pitchFamily="34" charset="0"/>
                    <a:ea typeface="Trebuchet MS" pitchFamily="34" charset="-122"/>
                    <a:cs typeface="Trebuchet MS" pitchFamily="34" charset="-120"/>
                  </a:rPr>
                  <a:t>575</a:t>
                </a:r>
                <a:endParaRPr lang="en-US" sz="1600" dirty="0"/>
              </a:p>
            </p:txBody>
          </p:sp>
          <p:sp>
            <p:nvSpPr>
              <p:cNvPr id="20" name="Text 18"/>
              <p:cNvSpPr/>
              <p:nvPr/>
            </p:nvSpPr>
            <p:spPr>
              <a:xfrm>
                <a:off x="2510536" y="2216088"/>
                <a:ext cx="1672107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20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Spearman P &lt; 0.001  (selected)</a:t>
                </a:r>
                <a:endParaRPr lang="en-US" sz="1200" dirty="0"/>
              </a:p>
            </p:txBody>
          </p:sp>
        </p:grpSp>
        <p:sp>
          <p:nvSpPr>
            <p:cNvPr id="34" name="Shape 32"/>
            <p:cNvSpPr/>
            <p:nvPr/>
          </p:nvSpPr>
          <p:spPr>
            <a:xfrm>
              <a:off x="411479" y="3096977"/>
              <a:ext cx="1624305" cy="475488"/>
            </a:xfrm>
            <a:prstGeom prst="roundRect">
              <a:avLst/>
            </a:prstGeom>
            <a:solidFill>
              <a:srgbClr val="243F73"/>
            </a:solidFill>
            <a:ln w="12700">
              <a:solidFill>
                <a:srgbClr val="243F73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411480" y="3115265"/>
              <a:ext cx="777240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3D9E9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99.05%</a:t>
              </a:r>
              <a:endParaRPr lang="en-US" sz="13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1216151" y="3206705"/>
              <a:ext cx="864939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Reduction</a:t>
              </a:r>
              <a:endParaRPr lang="en-US" sz="12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2130552" y="3096977"/>
              <a:ext cx="1719072" cy="475488"/>
            </a:xfrm>
            <a:prstGeom prst="roundRect">
              <a:avLst/>
            </a:prstGeom>
            <a:solidFill>
              <a:srgbClr val="243F73"/>
            </a:solidFill>
            <a:ln w="12700">
              <a:solidFill>
                <a:srgbClr val="243F73"/>
              </a:solidFill>
              <a:prstDash val="solid"/>
            </a:ln>
          </p:spPr>
          <p:txBody>
            <a:bodyPr/>
            <a:lstStyle/>
            <a:p>
              <a:endParaRPr lang="en-UG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2130551" y="3115265"/>
              <a:ext cx="864939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3D9E9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P&lt;0.001</a:t>
              </a:r>
              <a:endParaRPr lang="en-US" sz="13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2935224" y="3206705"/>
              <a:ext cx="84083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Threshold</a:t>
              </a:r>
              <a:endParaRPr lang="en-US" sz="12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3984289" y="3096977"/>
              <a:ext cx="1672105" cy="475488"/>
            </a:xfrm>
            <a:prstGeom prst="roundRect">
              <a:avLst/>
            </a:prstGeom>
            <a:solidFill>
              <a:srgbClr val="243F73"/>
            </a:solidFill>
            <a:ln w="12700">
              <a:solidFill>
                <a:srgbClr val="243F73"/>
              </a:solidFill>
              <a:prstDash val="solid"/>
            </a:ln>
          </p:spPr>
        </p:sp>
        <p:sp>
          <p:nvSpPr>
            <p:cNvPr id="41" name="Text 39"/>
            <p:cNvSpPr/>
            <p:nvPr/>
          </p:nvSpPr>
          <p:spPr>
            <a:xfrm>
              <a:off x="3849624" y="3115265"/>
              <a:ext cx="777240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3D9E9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575</a:t>
              </a:r>
              <a:endParaRPr lang="en-US" sz="13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4654296" y="3206705"/>
              <a:ext cx="9144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Genes kept</a:t>
              </a:r>
              <a:endParaRPr lang="en-US" sz="1200" dirty="0"/>
            </a:p>
          </p:txBody>
        </p:sp>
      </p:grpSp>
      <p:pic>
        <p:nvPicPr>
          <p:cNvPr id="57" name="Picture 56">
            <a:extLst>
              <a:ext uri="{FF2B5EF4-FFF2-40B4-BE49-F238E27FC236}">
                <a16:creationId xmlns:a16="http://schemas.microsoft.com/office/drawing/2014/main" id="{B8E4E42D-7640-650A-5942-DFA2746F0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633" y="2121109"/>
            <a:ext cx="3224386" cy="21276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080726"/>
              </p:ext>
            </p:extLst>
          </p:nvPr>
        </p:nvGraphicFramePr>
        <p:xfrm>
          <a:off x="411479" y="1170432"/>
          <a:ext cx="8215359" cy="3291810"/>
        </p:xfrm>
        <a:graphic>
          <a:graphicData uri="http://schemas.openxmlformats.org/drawingml/2006/table">
            <a:tbl>
              <a:tblPr/>
              <a:tblGrid>
                <a:gridCol w="3635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F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F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F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ENSG00000122877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pCR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ENSG00000175356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ENSG00000104970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pCR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ENSG00000103254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ENSG00000006607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ENSG00000171864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ENSG00000173947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ENSG00000161526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ENSG00000137731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2">
            <a:extLst>
              <a:ext uri="{FF2B5EF4-FFF2-40B4-BE49-F238E27FC236}">
                <a16:creationId xmlns:a16="http://schemas.microsoft.com/office/drawing/2014/main" id="{A1834BE7-3B5E-7334-27F8-B2B71DBAAD4D}"/>
              </a:ext>
            </a:extLst>
          </p:cNvPr>
          <p:cNvSpPr/>
          <p:nvPr/>
        </p:nvSpPr>
        <p:spPr>
          <a:xfrm>
            <a:off x="411480" y="554635"/>
            <a:ext cx="8321040" cy="3780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243F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r>
              <a:rPr lang="en-US" sz="2200" dirty="0"/>
              <a:t>: </a:t>
            </a:r>
            <a:r>
              <a:rPr lang="en-US" sz="2200" b="1" dirty="0">
                <a:solidFill>
                  <a:srgbClr val="243F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Spearman-Ranked Genes</a:t>
            </a:r>
          </a:p>
          <a:p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02271EF1-1C7B-2BF9-55E2-1F4DA742020A}"/>
              </a:ext>
            </a:extLst>
          </p:cNvPr>
          <p:cNvGrpSpPr/>
          <p:nvPr/>
        </p:nvGrpSpPr>
        <p:grpSpPr>
          <a:xfrm>
            <a:off x="411479" y="76205"/>
            <a:ext cx="1979295" cy="375660"/>
            <a:chOff x="411479" y="76205"/>
            <a:chExt cx="1979295" cy="375660"/>
          </a:xfrm>
        </p:grpSpPr>
        <p:sp>
          <p:nvSpPr>
            <p:cNvPr id="2" name="Shape 0"/>
            <p:cNvSpPr/>
            <p:nvPr/>
          </p:nvSpPr>
          <p:spPr>
            <a:xfrm>
              <a:off x="411479" y="76205"/>
              <a:ext cx="1979295" cy="375660"/>
            </a:xfrm>
            <a:prstGeom prst="roundRect">
              <a:avLst/>
            </a:prstGeom>
            <a:solidFill>
              <a:srgbClr val="2B7A78"/>
            </a:solidFill>
            <a:ln w="12700">
              <a:solidFill>
                <a:srgbClr val="2B7A78"/>
              </a:solidFill>
              <a:prstDash val="solid"/>
            </a:ln>
          </p:spPr>
        </p:sp>
        <p:sp>
          <p:nvSpPr>
            <p:cNvPr id="3" name="Text 1"/>
            <p:cNvSpPr/>
            <p:nvPr/>
          </p:nvSpPr>
          <p:spPr>
            <a:xfrm>
              <a:off x="411480" y="155448"/>
              <a:ext cx="15544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RESULTS</a:t>
              </a:r>
              <a:endParaRPr lang="en-US" sz="220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43F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Performance: Cross-Validation &amp; Test Set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solidFill>
            <a:srgbClr val="243F73"/>
          </a:solidFill>
          <a:ln w="12700">
            <a:solidFill>
              <a:srgbClr val="243F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Bayesian Optimisation — Cross-Validation Results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061075"/>
              </p:ext>
            </p:extLst>
          </p:nvPr>
        </p:nvGraphicFramePr>
        <p:xfrm>
          <a:off x="411480" y="1389888"/>
          <a:ext cx="8321040" cy="16002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1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Hyperparameters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AUROC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1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= 0.01, penalty = L1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1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max_depth=5, n_estimators=100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1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max_depth=3, lr=0.1, subsample=0.8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0.826  ← highest CV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1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Stacking Ensemble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+ RF + XGBoost meta-learner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762641"/>
              </p:ext>
            </p:extLst>
          </p:nvPr>
        </p:nvGraphicFramePr>
        <p:xfrm>
          <a:off x="411480" y="3496245"/>
          <a:ext cx="8321041" cy="1522095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75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9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98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01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9E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9E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AUPRC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9E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9E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9E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9E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4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43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43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43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43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43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43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4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4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4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Stacking Ensemble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411480" y="3134296"/>
            <a:ext cx="8321040" cy="274320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5279" y="315791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Held-Out Test Set Performance (n=45; 29 RD, 16 pCR)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43F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ROC &amp; Precision-Recall Curves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</a:ln>
        </p:spPr>
      </p:sp>
      <p:pic>
        <p:nvPicPr>
          <p:cNvPr id="6" name="Image 0" descr="/mnt/user-data/uploads/roc_prc_curv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115568"/>
            <a:ext cx="8321040" cy="35478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72744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LR: AUC=0.709, AP=0.504  ·  RF: AUC=0.675, AP=0.579  ·  XGBoost: AUC=0.595, AP=0.528  ·  Stacking: AUC=0.675, AP=0.556</a:t>
            </a:r>
            <a:endParaRPr lang="en-US" sz="8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CDF28F4-5032-5F37-170B-2A03457245CB}"/>
              </a:ext>
            </a:extLst>
          </p:cNvPr>
          <p:cNvGrpSpPr/>
          <p:nvPr/>
        </p:nvGrpSpPr>
        <p:grpSpPr>
          <a:xfrm>
            <a:off x="411479" y="76205"/>
            <a:ext cx="1979295" cy="375660"/>
            <a:chOff x="411479" y="76205"/>
            <a:chExt cx="1979295" cy="375660"/>
          </a:xfrm>
        </p:grpSpPr>
        <p:sp>
          <p:nvSpPr>
            <p:cNvPr id="9" name="Shape 0">
              <a:extLst>
                <a:ext uri="{FF2B5EF4-FFF2-40B4-BE49-F238E27FC236}">
                  <a16:creationId xmlns:a16="http://schemas.microsoft.com/office/drawing/2014/main" id="{E7D76C4A-EC3D-BF46-2B6D-E38308BD5ECA}"/>
                </a:ext>
              </a:extLst>
            </p:cNvPr>
            <p:cNvSpPr/>
            <p:nvPr/>
          </p:nvSpPr>
          <p:spPr>
            <a:xfrm>
              <a:off x="411479" y="76205"/>
              <a:ext cx="1979295" cy="375660"/>
            </a:xfrm>
            <a:prstGeom prst="roundRect">
              <a:avLst/>
            </a:prstGeom>
            <a:solidFill>
              <a:srgbClr val="2B7A78"/>
            </a:solidFill>
            <a:ln w="12700">
              <a:solidFill>
                <a:srgbClr val="2B7A78"/>
              </a:solidFill>
              <a:prstDash val="solid"/>
            </a:ln>
          </p:spPr>
        </p:sp>
        <p:sp>
          <p:nvSpPr>
            <p:cNvPr id="10" name="Text 1">
              <a:extLst>
                <a:ext uri="{FF2B5EF4-FFF2-40B4-BE49-F238E27FC236}">
                  <a16:creationId xmlns:a16="http://schemas.microsoft.com/office/drawing/2014/main" id="{4C216D27-F136-AB09-3CB5-120F62F06B1C}"/>
                </a:ext>
              </a:extLst>
            </p:cNvPr>
            <p:cNvSpPr/>
            <p:nvPr/>
          </p:nvSpPr>
          <p:spPr>
            <a:xfrm>
              <a:off x="411480" y="155448"/>
              <a:ext cx="15544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RESULTS</a:t>
              </a:r>
              <a:endParaRPr lang="en-US" sz="2200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43F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Matrices: Test Set (n=45)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</a:ln>
        </p:spPr>
      </p:sp>
      <p:pic>
        <p:nvPicPr>
          <p:cNvPr id="6" name="Image 0" descr="/mnt/user-data/uploads/confusion_matric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67837"/>
            <a:ext cx="8321040" cy="283464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AEF38436-3395-FED3-10F0-3D8E8C3DB438}"/>
              </a:ext>
            </a:extLst>
          </p:cNvPr>
          <p:cNvGrpSpPr/>
          <p:nvPr/>
        </p:nvGrpSpPr>
        <p:grpSpPr>
          <a:xfrm>
            <a:off x="411479" y="76205"/>
            <a:ext cx="1979295" cy="375660"/>
            <a:chOff x="411479" y="76205"/>
            <a:chExt cx="1979295" cy="375660"/>
          </a:xfrm>
        </p:grpSpPr>
        <p:sp>
          <p:nvSpPr>
            <p:cNvPr id="24" name="Shape 0">
              <a:extLst>
                <a:ext uri="{FF2B5EF4-FFF2-40B4-BE49-F238E27FC236}">
                  <a16:creationId xmlns:a16="http://schemas.microsoft.com/office/drawing/2014/main" id="{307DCA1E-92B0-C666-4A1A-88D2D3DB4501}"/>
                </a:ext>
              </a:extLst>
            </p:cNvPr>
            <p:cNvSpPr/>
            <p:nvPr/>
          </p:nvSpPr>
          <p:spPr>
            <a:xfrm>
              <a:off x="411479" y="76205"/>
              <a:ext cx="1979295" cy="375660"/>
            </a:xfrm>
            <a:prstGeom prst="roundRect">
              <a:avLst/>
            </a:prstGeom>
            <a:solidFill>
              <a:srgbClr val="2B7A78"/>
            </a:solidFill>
            <a:ln w="12700">
              <a:solidFill>
                <a:srgbClr val="2B7A78"/>
              </a:solidFill>
              <a:prstDash val="solid"/>
            </a:ln>
          </p:spPr>
        </p:sp>
        <p:sp>
          <p:nvSpPr>
            <p:cNvPr id="25" name="Text 1">
              <a:extLst>
                <a:ext uri="{FF2B5EF4-FFF2-40B4-BE49-F238E27FC236}">
                  <a16:creationId xmlns:a16="http://schemas.microsoft.com/office/drawing/2014/main" id="{84B39903-9E13-BD18-21EF-A0AB199EFD15}"/>
                </a:ext>
              </a:extLst>
            </p:cNvPr>
            <p:cNvSpPr/>
            <p:nvPr/>
          </p:nvSpPr>
          <p:spPr>
            <a:xfrm>
              <a:off x="411480" y="155448"/>
              <a:ext cx="15544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RESULTS</a:t>
              </a:r>
              <a:endParaRPr lang="en-US" sz="2200"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43F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 Explainability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</a:ln>
        </p:spPr>
      </p:sp>
      <p:pic>
        <p:nvPicPr>
          <p:cNvPr id="6" name="Image 0" descr="/mnt/user-data/uploads/shap_summa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359981"/>
            <a:ext cx="4782695" cy="3308031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E64B45C-1D2B-5FFB-6B14-72EBB8302933}"/>
              </a:ext>
            </a:extLst>
          </p:cNvPr>
          <p:cNvSpPr txBox="1"/>
          <p:nvPr/>
        </p:nvSpPr>
        <p:spPr>
          <a:xfrm>
            <a:off x="5314013" y="1416570"/>
            <a:ext cx="374754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top genes have the greatest overall influence on the model’s output.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Dots on the right show how individual gene is expressed in </a:t>
            </a:r>
            <a:r>
              <a:rPr lang="en-US" dirty="0" err="1"/>
              <a:t>pCR</a:t>
            </a:r>
            <a:r>
              <a:rPr lang="en-US" dirty="0"/>
              <a:t> (positive SHAP)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Dots on the left shows how individual gene is expressed in RD (negative SHAP)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43F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Calibration Plot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</a:ln>
        </p:spPr>
      </p:sp>
      <p:pic>
        <p:nvPicPr>
          <p:cNvPr id="6" name="Image 0" descr="/mnt/user-data/uploads/calibration_pl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79" y="1115568"/>
            <a:ext cx="8172684" cy="377200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BB3A6AA7-25DC-401C-8DB5-4119E2035C5D}"/>
              </a:ext>
            </a:extLst>
          </p:cNvPr>
          <p:cNvGrpSpPr/>
          <p:nvPr/>
        </p:nvGrpSpPr>
        <p:grpSpPr>
          <a:xfrm>
            <a:off x="411479" y="118872"/>
            <a:ext cx="2341052" cy="320040"/>
            <a:chOff x="411479" y="118872"/>
            <a:chExt cx="2341052" cy="320040"/>
          </a:xfrm>
        </p:grpSpPr>
        <p:sp>
          <p:nvSpPr>
            <p:cNvPr id="15" name="Shape 0">
              <a:extLst>
                <a:ext uri="{FF2B5EF4-FFF2-40B4-BE49-F238E27FC236}">
                  <a16:creationId xmlns:a16="http://schemas.microsoft.com/office/drawing/2014/main" id="{189E8B3E-F590-35D2-28DE-956ED5CB8B13}"/>
                </a:ext>
              </a:extLst>
            </p:cNvPr>
            <p:cNvSpPr/>
            <p:nvPr/>
          </p:nvSpPr>
          <p:spPr>
            <a:xfrm>
              <a:off x="476794" y="118872"/>
              <a:ext cx="2275737" cy="320040"/>
            </a:xfrm>
            <a:prstGeom prst="roundRect">
              <a:avLst/>
            </a:prstGeom>
            <a:solidFill>
              <a:srgbClr val="2B7A78"/>
            </a:solidFill>
            <a:ln w="12700">
              <a:solidFill>
                <a:srgbClr val="2B7A78"/>
              </a:solidFill>
              <a:prstDash val="solid"/>
            </a:ln>
          </p:spPr>
        </p:sp>
        <p:sp>
          <p:nvSpPr>
            <p:cNvPr id="16" name="Text 1">
              <a:extLst>
                <a:ext uri="{FF2B5EF4-FFF2-40B4-BE49-F238E27FC236}">
                  <a16:creationId xmlns:a16="http://schemas.microsoft.com/office/drawing/2014/main" id="{1797898F-47C2-0E00-DA96-A44C3858CBFD}"/>
                </a:ext>
              </a:extLst>
            </p:cNvPr>
            <p:cNvSpPr/>
            <p:nvPr/>
          </p:nvSpPr>
          <p:spPr>
            <a:xfrm>
              <a:off x="411479" y="155448"/>
              <a:ext cx="2098455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CLINICAL</a:t>
              </a:r>
              <a:r>
                <a:rPr lang="en-US" sz="7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 </a:t>
              </a:r>
              <a:r>
                <a:rPr lang="en-US" sz="15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UTILITY</a:t>
              </a:r>
              <a:endParaRPr lang="en-US" sz="1500" dirty="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B98E98-EE61-DC64-1FFF-27EDD46E1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F35A014-5407-31C0-6036-A94A4AF17B62}"/>
              </a:ext>
            </a:extLst>
          </p:cNvPr>
          <p:cNvGrpSpPr/>
          <p:nvPr/>
        </p:nvGrpSpPr>
        <p:grpSpPr>
          <a:xfrm>
            <a:off x="411479" y="118872"/>
            <a:ext cx="2341052" cy="320040"/>
            <a:chOff x="411479" y="118872"/>
            <a:chExt cx="2341052" cy="320040"/>
          </a:xfrm>
        </p:grpSpPr>
        <p:sp>
          <p:nvSpPr>
            <p:cNvPr id="2" name="Shape 0">
              <a:extLst>
                <a:ext uri="{FF2B5EF4-FFF2-40B4-BE49-F238E27FC236}">
                  <a16:creationId xmlns:a16="http://schemas.microsoft.com/office/drawing/2014/main" id="{2A37270F-65AC-89C9-DEF3-0ABF251A5ACB}"/>
                </a:ext>
              </a:extLst>
            </p:cNvPr>
            <p:cNvSpPr/>
            <p:nvPr/>
          </p:nvSpPr>
          <p:spPr>
            <a:xfrm>
              <a:off x="476794" y="118872"/>
              <a:ext cx="2275737" cy="320040"/>
            </a:xfrm>
            <a:prstGeom prst="roundRect">
              <a:avLst/>
            </a:prstGeom>
            <a:solidFill>
              <a:srgbClr val="2B7A78"/>
            </a:solidFill>
            <a:ln w="12700">
              <a:solidFill>
                <a:srgbClr val="2B7A78"/>
              </a:solidFill>
              <a:prstDash val="solid"/>
            </a:ln>
          </p:spPr>
        </p:sp>
        <p:sp>
          <p:nvSpPr>
            <p:cNvPr id="3" name="Text 1">
              <a:extLst>
                <a:ext uri="{FF2B5EF4-FFF2-40B4-BE49-F238E27FC236}">
                  <a16:creationId xmlns:a16="http://schemas.microsoft.com/office/drawing/2014/main" id="{3D5439DF-DDA8-AE3F-573A-7A00D5376E7A}"/>
                </a:ext>
              </a:extLst>
            </p:cNvPr>
            <p:cNvSpPr/>
            <p:nvPr/>
          </p:nvSpPr>
          <p:spPr>
            <a:xfrm>
              <a:off x="411479" y="155448"/>
              <a:ext cx="2098455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CLINICAL</a:t>
              </a:r>
              <a:r>
                <a:rPr lang="en-US" sz="7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 </a:t>
              </a:r>
              <a:r>
                <a:rPr lang="en-US" sz="15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UTILITY</a:t>
              </a:r>
              <a:endParaRPr lang="en-US" sz="1500" dirty="0"/>
            </a:p>
          </p:txBody>
        </p:sp>
      </p:grpSp>
      <p:sp>
        <p:nvSpPr>
          <p:cNvPr id="4" name="Text 2">
            <a:extLst>
              <a:ext uri="{FF2B5EF4-FFF2-40B4-BE49-F238E27FC236}">
                <a16:creationId xmlns:a16="http://schemas.microsoft.com/office/drawing/2014/main" id="{02A90FFD-FF80-DF8C-2824-070FD74A4597}"/>
              </a:ext>
            </a:extLst>
          </p:cNvPr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43F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Curve Analysis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0866F3B-4BC4-1795-00A8-15D145F91B8C}"/>
              </a:ext>
            </a:extLst>
          </p:cNvPr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</a:ln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73C3F2E-D6F0-2E35-53F0-73392AC61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79" y="1124713"/>
            <a:ext cx="5695313" cy="36646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49083E-0526-C538-41BB-623295111142}"/>
              </a:ext>
            </a:extLst>
          </p:cNvPr>
          <p:cNvSpPr txBox="1"/>
          <p:nvPr/>
        </p:nvSpPr>
        <p:spPr>
          <a:xfrm>
            <a:off x="6106792" y="1059055"/>
            <a:ext cx="288730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“Treat All” (black line): assumes every patient receives NAC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“Treat None” (dashed grey line at 0): no patients are treated.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model is clinically useful when its curve is above both 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Logistic Regression (highest net benefit across the broadest range of thresholds (~0.0-0.60))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8955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49DB9C-A3F8-2553-076F-425E721EE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BECC3B5D-D3AD-C405-D953-C24B4ACCE726}"/>
              </a:ext>
            </a:extLst>
          </p:cNvPr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43F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Calibration &amp; Decision Curve Analysis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C0B8AE4-82CA-CFEC-F1E2-AE62EED51E67}"/>
              </a:ext>
            </a:extLst>
          </p:cNvPr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</a:ln>
        </p:spPr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A5C11E5-5D11-3AB4-978E-5F7B2194F1AA}"/>
              </a:ext>
            </a:extLst>
          </p:cNvPr>
          <p:cNvSpPr/>
          <p:nvPr/>
        </p:nvSpPr>
        <p:spPr>
          <a:xfrm>
            <a:off x="411480" y="3072384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43F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Calibration</a:t>
            </a:r>
            <a:endParaRPr lang="en-US" sz="9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58C4CD6-6955-B72E-B31B-DEC3BD93BA24}"/>
              </a:ext>
            </a:extLst>
          </p:cNvPr>
          <p:cNvSpPr/>
          <p:nvPr/>
        </p:nvSpPr>
        <p:spPr>
          <a:xfrm>
            <a:off x="4663440" y="3072384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43F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Curve Analysis</a:t>
            </a:r>
            <a:endParaRPr lang="en-US" sz="900" dirty="0"/>
          </a:p>
        </p:txBody>
      </p:sp>
      <p:pic>
        <p:nvPicPr>
          <p:cNvPr id="10" name="Image 2" descr="/mnt/user-data/uploads/final_summary_figure.png">
            <a:extLst>
              <a:ext uri="{FF2B5EF4-FFF2-40B4-BE49-F238E27FC236}">
                <a16:creationId xmlns:a16="http://schemas.microsoft.com/office/drawing/2014/main" id="{D9F887E9-7010-9421-E004-EDC26E7443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895739"/>
            <a:ext cx="8321040" cy="409230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A5CE051-7251-212D-EEDA-18F16055C56F}"/>
              </a:ext>
            </a:extLst>
          </p:cNvPr>
          <p:cNvGrpSpPr/>
          <p:nvPr/>
        </p:nvGrpSpPr>
        <p:grpSpPr>
          <a:xfrm>
            <a:off x="411479" y="118872"/>
            <a:ext cx="2341052" cy="320040"/>
            <a:chOff x="411479" y="118872"/>
            <a:chExt cx="2341052" cy="320040"/>
          </a:xfrm>
        </p:grpSpPr>
        <p:sp>
          <p:nvSpPr>
            <p:cNvPr id="12" name="Shape 0">
              <a:extLst>
                <a:ext uri="{FF2B5EF4-FFF2-40B4-BE49-F238E27FC236}">
                  <a16:creationId xmlns:a16="http://schemas.microsoft.com/office/drawing/2014/main" id="{8F936665-6AB5-D3A0-89B5-1B986F61FDED}"/>
                </a:ext>
              </a:extLst>
            </p:cNvPr>
            <p:cNvSpPr/>
            <p:nvPr/>
          </p:nvSpPr>
          <p:spPr>
            <a:xfrm>
              <a:off x="476794" y="118872"/>
              <a:ext cx="2275737" cy="320040"/>
            </a:xfrm>
            <a:prstGeom prst="roundRect">
              <a:avLst/>
            </a:prstGeom>
            <a:solidFill>
              <a:srgbClr val="2B7A78"/>
            </a:solidFill>
            <a:ln w="12700">
              <a:solidFill>
                <a:srgbClr val="2B7A78"/>
              </a:solidFill>
              <a:prstDash val="solid"/>
            </a:ln>
          </p:spPr>
        </p:sp>
        <p:sp>
          <p:nvSpPr>
            <p:cNvPr id="13" name="Text 1">
              <a:extLst>
                <a:ext uri="{FF2B5EF4-FFF2-40B4-BE49-F238E27FC236}">
                  <a16:creationId xmlns:a16="http://schemas.microsoft.com/office/drawing/2014/main" id="{FD3192D4-ABA4-FD21-9275-AA3150AAD5E4}"/>
                </a:ext>
              </a:extLst>
            </p:cNvPr>
            <p:cNvSpPr/>
            <p:nvPr/>
          </p:nvSpPr>
          <p:spPr>
            <a:xfrm>
              <a:off x="411479" y="155448"/>
              <a:ext cx="2098455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CLINICAL</a:t>
              </a:r>
              <a:r>
                <a:rPr lang="en-US" sz="7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 </a:t>
              </a:r>
              <a:r>
                <a:rPr lang="en-US" sz="15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UTILITY</a:t>
              </a:r>
              <a:endParaRPr lang="en-US" sz="15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176151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49DB9C-A3F8-2553-076F-425E721EE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BECC3B5D-D3AD-C405-D953-C24B4ACCE726}"/>
              </a:ext>
            </a:extLst>
          </p:cNvPr>
          <p:cNvSpPr/>
          <p:nvPr/>
        </p:nvSpPr>
        <p:spPr>
          <a:xfrm>
            <a:off x="411480" y="28498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43F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Calibration &amp; Decision Curve Analysis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C0B8AE4-82CA-CFEC-F1E2-AE62EED51E67}"/>
              </a:ext>
            </a:extLst>
          </p:cNvPr>
          <p:cNvSpPr/>
          <p:nvPr/>
        </p:nvSpPr>
        <p:spPr>
          <a:xfrm>
            <a:off x="411480" y="708660"/>
            <a:ext cx="832104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</a:ln>
        </p:spPr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A5CE051-7251-212D-EEDA-18F16055C56F}"/>
              </a:ext>
            </a:extLst>
          </p:cNvPr>
          <p:cNvGrpSpPr/>
          <p:nvPr/>
        </p:nvGrpSpPr>
        <p:grpSpPr>
          <a:xfrm>
            <a:off x="411479" y="50292"/>
            <a:ext cx="2341052" cy="320040"/>
            <a:chOff x="411479" y="240792"/>
            <a:chExt cx="2341052" cy="320040"/>
          </a:xfrm>
        </p:grpSpPr>
        <p:sp>
          <p:nvSpPr>
            <p:cNvPr id="12" name="Shape 0">
              <a:extLst>
                <a:ext uri="{FF2B5EF4-FFF2-40B4-BE49-F238E27FC236}">
                  <a16:creationId xmlns:a16="http://schemas.microsoft.com/office/drawing/2014/main" id="{8F936665-6AB5-D3A0-89B5-1B986F61FDED}"/>
                </a:ext>
              </a:extLst>
            </p:cNvPr>
            <p:cNvSpPr/>
            <p:nvPr/>
          </p:nvSpPr>
          <p:spPr>
            <a:xfrm>
              <a:off x="476794" y="240792"/>
              <a:ext cx="2275737" cy="320040"/>
            </a:xfrm>
            <a:prstGeom prst="roundRect">
              <a:avLst/>
            </a:prstGeom>
            <a:solidFill>
              <a:srgbClr val="2B7A78"/>
            </a:solidFill>
            <a:ln w="12700">
              <a:solidFill>
                <a:srgbClr val="2B7A78"/>
              </a:solidFill>
              <a:prstDash val="solid"/>
            </a:ln>
          </p:spPr>
        </p:sp>
        <p:sp>
          <p:nvSpPr>
            <p:cNvPr id="13" name="Text 1">
              <a:extLst>
                <a:ext uri="{FF2B5EF4-FFF2-40B4-BE49-F238E27FC236}">
                  <a16:creationId xmlns:a16="http://schemas.microsoft.com/office/drawing/2014/main" id="{FD3192D4-ABA4-FD21-9275-AA3150AAD5E4}"/>
                </a:ext>
              </a:extLst>
            </p:cNvPr>
            <p:cNvSpPr/>
            <p:nvPr/>
          </p:nvSpPr>
          <p:spPr>
            <a:xfrm>
              <a:off x="411479" y="292608"/>
              <a:ext cx="2098455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CLINICAL</a:t>
              </a:r>
              <a:r>
                <a:rPr lang="en-US" sz="7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 </a:t>
              </a:r>
              <a:r>
                <a:rPr lang="en-US" sz="15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UTILITY</a:t>
              </a:r>
              <a:endParaRPr lang="en-US" sz="1500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84142D8-C940-D8D9-F2EE-8AD3C7310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77" y="789434"/>
            <a:ext cx="7463246" cy="411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817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43F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3200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 &amp; Future Directions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868680"/>
            <a:ext cx="841248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24128"/>
            <a:ext cx="256032" cy="256032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987552"/>
            <a:ext cx="8046720" cy="387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(AUROC=0.709, Sensitivity=56.3%) outperforms tree ensembles on test. 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737360"/>
            <a:ext cx="256032" cy="256032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576314"/>
            <a:ext cx="8046720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 learning (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='balanced') effectively addresses the 1.77:1 class imbalance.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Genome-wide Spearman filtering reduces 60,279 genes to 575 (99.05% reduction) without sacrificing predictive signal.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2450592"/>
            <a:ext cx="256032" cy="256032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2322576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 biological mappings to: immune activation, DNA damage response (TP53, BRCA1), apoptosis (BCL2), oestrogen receptor signalling (ESR1), and RTK proliferation (EGFR, GRB2, CTNNB1).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" y="3163824"/>
            <a:ext cx="256032" cy="256032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305104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curve analysis confirms net clinical benefit at thresholds 0.25-0.55, validating clinical utility beyond the AUROC metric (Collins et al., 2024).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2336" y="3775446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</a:rPr>
              <a:t>FUTURE</a:t>
            </a:r>
            <a:r>
              <a:rPr lang="en-US" sz="1500" b="1" kern="0" spc="200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</a:rPr>
              <a:t>DIRECTIONS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D8858FF-F143-25C3-7459-92CD3800A2ED}"/>
              </a:ext>
            </a:extLst>
          </p:cNvPr>
          <p:cNvGrpSpPr/>
          <p:nvPr/>
        </p:nvGrpSpPr>
        <p:grpSpPr>
          <a:xfrm>
            <a:off x="402336" y="4162432"/>
            <a:ext cx="8430768" cy="846567"/>
            <a:chOff x="347472" y="4407408"/>
            <a:chExt cx="8430768" cy="846567"/>
          </a:xfrm>
        </p:grpSpPr>
        <p:sp>
          <p:nvSpPr>
            <p:cNvPr id="15" name="Shape 13"/>
            <p:cNvSpPr/>
            <p:nvPr/>
          </p:nvSpPr>
          <p:spPr>
            <a:xfrm>
              <a:off x="347472" y="5116815"/>
              <a:ext cx="128016" cy="0"/>
            </a:xfrm>
            <a:prstGeom prst="line">
              <a:avLst/>
            </a:prstGeom>
            <a:noFill/>
            <a:ln w="15240">
              <a:solidFill>
                <a:srgbClr val="2B7A78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548640" y="5052807"/>
              <a:ext cx="82296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External validation on GSE123845 and TCGA-BRCA</a:t>
              </a:r>
              <a:endParaRPr lang="en-US" sz="12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47472" y="4471416"/>
              <a:ext cx="128016" cy="0"/>
            </a:xfrm>
            <a:prstGeom prst="line">
              <a:avLst/>
            </a:prstGeom>
            <a:noFill/>
            <a:ln w="15240">
              <a:solidFill>
                <a:srgbClr val="2B7A78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548640" y="4407408"/>
              <a:ext cx="82296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Multi-omic integration: transcriptomics + clinical variables + radiomics</a:t>
              </a:r>
              <a:endParaRPr lang="en-US" sz="12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347472" y="4672584"/>
              <a:ext cx="128016" cy="0"/>
            </a:xfrm>
            <a:prstGeom prst="line">
              <a:avLst/>
            </a:prstGeom>
            <a:noFill/>
            <a:ln w="15240">
              <a:solidFill>
                <a:srgbClr val="2B7A78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548640" y="4608576"/>
              <a:ext cx="82296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Subtype-stratified models (TNBC, HER2+, ER+/HER2−)</a:t>
              </a:r>
              <a:endParaRPr lang="en-US" sz="12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47472" y="4873752"/>
              <a:ext cx="128016" cy="0"/>
            </a:xfrm>
            <a:prstGeom prst="line">
              <a:avLst/>
            </a:prstGeom>
            <a:noFill/>
            <a:ln w="15240">
              <a:solidFill>
                <a:srgbClr val="2B7A78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48640" y="4809744"/>
              <a:ext cx="82296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Prospective clinical trial as decision-support tool for NAC selection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7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4572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47472" y="1133856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3D9E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Discussion Welcome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47472" y="1554480"/>
            <a:ext cx="841248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664208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3D9E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REFERENCES</a:t>
            </a:r>
            <a:endParaRPr lang="en-US" sz="15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D46EF65-86DF-6E7A-1CDD-9AC825895093}"/>
              </a:ext>
            </a:extLst>
          </p:cNvPr>
          <p:cNvGrpSpPr/>
          <p:nvPr/>
        </p:nvGrpSpPr>
        <p:grpSpPr>
          <a:xfrm>
            <a:off x="347472" y="1920240"/>
            <a:ext cx="8412480" cy="2679192"/>
            <a:chOff x="347472" y="1920240"/>
            <a:chExt cx="8412480" cy="267919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079B702-D37D-C6DB-C109-2E1B9853FEE4}"/>
                </a:ext>
              </a:extLst>
            </p:cNvPr>
            <p:cNvGrpSpPr/>
            <p:nvPr/>
          </p:nvGrpSpPr>
          <p:grpSpPr>
            <a:xfrm>
              <a:off x="347472" y="1920240"/>
              <a:ext cx="8412480" cy="2340864"/>
              <a:chOff x="347472" y="1920240"/>
              <a:chExt cx="8412480" cy="2340864"/>
            </a:xfrm>
          </p:grpSpPr>
          <p:sp>
            <p:nvSpPr>
              <p:cNvPr id="7" name="Text 5"/>
              <p:cNvSpPr/>
              <p:nvPr/>
            </p:nvSpPr>
            <p:spPr>
              <a:xfrm>
                <a:off x="347472" y="1920240"/>
                <a:ext cx="8412480" cy="310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i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Park, Y.H., et al. (2020). Chemotherapy induces dynamic immune responses in breast cancers. Nature Communications, 11, 6175.</a:t>
                </a:r>
                <a:endParaRPr lang="en-US" sz="1200" i="1" dirty="0"/>
              </a:p>
            </p:txBody>
          </p:sp>
          <p:sp>
            <p:nvSpPr>
              <p:cNvPr id="8" name="Text 6"/>
              <p:cNvSpPr/>
              <p:nvPr/>
            </p:nvSpPr>
            <p:spPr>
              <a:xfrm>
                <a:off x="347472" y="2258568"/>
                <a:ext cx="8412480" cy="310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i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Chen, J., et al. (2022). ML models based on immunological genes to predict NAC response. Frontiers in Immunology, 13, 948601.</a:t>
                </a:r>
                <a:endParaRPr lang="en-US" sz="1200" i="1" dirty="0"/>
              </a:p>
            </p:txBody>
          </p:sp>
          <p:sp>
            <p:nvSpPr>
              <p:cNvPr id="9" name="Text 7"/>
              <p:cNvSpPr/>
              <p:nvPr/>
            </p:nvSpPr>
            <p:spPr>
              <a:xfrm>
                <a:off x="347472" y="2596896"/>
                <a:ext cx="8412480" cy="310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i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Lundberg, S.M. &amp; Lee, S.I. (2017). A Unified Approach to Interpreting Model Predictions. NeurIPS, 30.</a:t>
                </a:r>
                <a:endParaRPr lang="en-US" sz="1200" i="1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347472" y="2935224"/>
                <a:ext cx="8412480" cy="310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i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Vickers, A.J. &amp; Elkin, E.B. (2006). Decision Curve Analysis. Medical Decision Making, 26(6), 565–574.</a:t>
                </a:r>
                <a:endParaRPr lang="en-US" sz="1200" i="1" dirty="0"/>
              </a:p>
            </p:txBody>
          </p:sp>
          <p:sp>
            <p:nvSpPr>
              <p:cNvPr id="11" name="Text 9"/>
              <p:cNvSpPr/>
              <p:nvPr/>
            </p:nvSpPr>
            <p:spPr>
              <a:xfrm>
                <a:off x="347472" y="3273552"/>
                <a:ext cx="8412480" cy="310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i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Cortazar, P., et al. (2014). Pathological complete response and long-term clinical benefit. The Lancet, 384(9938), 164–172.</a:t>
                </a:r>
                <a:endParaRPr lang="en-US" sz="1200" i="1" dirty="0"/>
              </a:p>
            </p:txBody>
          </p:sp>
          <p:sp>
            <p:nvSpPr>
              <p:cNvPr id="12" name="Text 10"/>
              <p:cNvSpPr/>
              <p:nvPr/>
            </p:nvSpPr>
            <p:spPr>
              <a:xfrm>
                <a:off x="347472" y="3611880"/>
                <a:ext cx="8412480" cy="310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i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Collins, G.S., et al. (2024). TRIPOD+AI statement. BMJ, 385, e078378.</a:t>
                </a:r>
                <a:endParaRPr lang="en-US" sz="1200" i="1" dirty="0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347472" y="3950208"/>
                <a:ext cx="8412480" cy="310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i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Blagus, R. &amp; Lusa, L. (2013). SMOTE for high-dimensional class-imbalanced data. BMC Bioinformatics, 14, 106.</a:t>
                </a:r>
                <a:endParaRPr lang="en-US" sz="1200" i="1" dirty="0"/>
              </a:p>
            </p:txBody>
          </p:sp>
        </p:grpSp>
        <p:sp>
          <p:nvSpPr>
            <p:cNvPr id="14" name="Text 12"/>
            <p:cNvSpPr/>
            <p:nvPr/>
          </p:nvSpPr>
          <p:spPr>
            <a:xfrm>
              <a:off x="347472" y="4288536"/>
              <a:ext cx="841248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Sung, H., et al. (2021). Global Cancer Statistics 2020. CA Cancer J Clin, 71(3), 209–249.</a:t>
              </a:r>
              <a:endParaRPr lang="en-US" sz="1200" i="1" dirty="0"/>
            </a:p>
          </p:txBody>
        </p:sp>
      </p:grpSp>
      <p:sp>
        <p:nvSpPr>
          <p:cNvPr id="15" name="Shape 13"/>
          <p:cNvSpPr/>
          <p:nvPr/>
        </p:nvSpPr>
        <p:spPr>
          <a:xfrm>
            <a:off x="347472" y="4681728"/>
            <a:ext cx="841248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1476</Words>
  <Application>Microsoft Office PowerPoint</Application>
  <PresentationFormat>On-screen Show (16:9)</PresentationFormat>
  <Paragraphs>272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Segoe WPC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Walter Odur</cp:lastModifiedBy>
  <cp:revision>31</cp:revision>
  <dcterms:created xsi:type="dcterms:W3CDTF">2026-05-17T16:31:54Z</dcterms:created>
  <dcterms:modified xsi:type="dcterms:W3CDTF">2026-05-18T10:45:12Z</dcterms:modified>
</cp:coreProperties>
</file>